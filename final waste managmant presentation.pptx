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6"/>
  </p:handoutMasterIdLst>
  <p:sldIdLst>
    <p:sldId id="258" r:id="rId4"/>
    <p:sldId id="259" r:id="rId6"/>
    <p:sldId id="299" r:id="rId7"/>
    <p:sldId id="297" r:id="rId8"/>
    <p:sldId id="264" r:id="rId9"/>
    <p:sldId id="292" r:id="rId10"/>
    <p:sldId id="296" r:id="rId11"/>
    <p:sldId id="274" r:id="rId12"/>
    <p:sldId id="298" r:id="rId13"/>
    <p:sldId id="295" r:id="rId14"/>
    <p:sldId id="265" r:id="rId15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214"/>
        <p:guide pos="3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ouklñ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ouklñ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ouklñ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image" Target="../media/image13.pn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8.jpeg"/><Relationship Id="rId11" Type="http://schemas.openxmlformats.org/officeDocument/2006/relationships/image" Target="../media/image17.jpeg"/><Relationship Id="rId10" Type="http://schemas.openxmlformats.org/officeDocument/2006/relationships/image" Target="../media/image16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文本框 6"/>
          <p:cNvSpPr txBox="1"/>
          <p:nvPr/>
        </p:nvSpPr>
        <p:spPr>
          <a:xfrm>
            <a:off x="4903470" y="1776095"/>
            <a:ext cx="6631940" cy="1783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5500" b="1" dirty="0">
                <a:solidFill>
                  <a:srgbClr val="FFFFFF"/>
                </a:solidFill>
                <a:latin typeface="Arial" panose="020B0604020202020204" pitchFamily="34" charset="0"/>
                <a:ea typeface="等线" pitchFamily="2" charset="-122"/>
              </a:rPr>
              <a:t>WASTE MISMANAGEMENT</a:t>
            </a:r>
            <a:endParaRPr lang="en-US" altLang="zh-CN" sz="5500" b="1" dirty="0">
              <a:solidFill>
                <a:srgbClr val="FFFFFF"/>
              </a:solidFill>
              <a:latin typeface="Arial" panose="020B0604020202020204" pitchFamily="34" charset="0"/>
              <a:ea typeface="等线" pitchFamily="2" charset="-122"/>
            </a:endParaRPr>
          </a:p>
        </p:txBody>
      </p:sp>
      <p:grpSp>
        <p:nvGrpSpPr>
          <p:cNvPr id="5122" name="组合 7"/>
          <p:cNvGrpSpPr/>
          <p:nvPr/>
        </p:nvGrpSpPr>
        <p:grpSpPr>
          <a:xfrm>
            <a:off x="5108575" y="4787900"/>
            <a:ext cx="1812925" cy="626810"/>
            <a:chOff x="5549958" y="3875540"/>
            <a:chExt cx="1813174" cy="627840"/>
          </a:xfrm>
        </p:grpSpPr>
        <p:sp>
          <p:nvSpPr>
            <p:cNvPr id="9" name="圆角矩形 8"/>
            <p:cNvSpPr/>
            <p:nvPr/>
          </p:nvSpPr>
          <p:spPr>
            <a:xfrm>
              <a:off x="5549958" y="3875540"/>
              <a:ext cx="1813174" cy="627840"/>
            </a:xfrm>
            <a:prstGeom prst="roundRect">
              <a:avLst/>
            </a:prstGeom>
            <a:solidFill>
              <a:srgbClr val="99C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5124" name="矩形 9"/>
            <p:cNvSpPr/>
            <p:nvPr/>
          </p:nvSpPr>
          <p:spPr>
            <a:xfrm>
              <a:off x="5549959" y="3919345"/>
              <a:ext cx="1624390" cy="5539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30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307-109</a:t>
              </a:r>
              <a:endParaRPr lang="en-US" altLang="zh-CN" sz="3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5125" name="文本框 10"/>
          <p:cNvSpPr txBox="1"/>
          <p:nvPr/>
        </p:nvSpPr>
        <p:spPr>
          <a:xfrm>
            <a:off x="4903153" y="3719830"/>
            <a:ext cx="5614987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/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smart solutions for cleaner communities</a:t>
            </a:r>
            <a:endParaRPr lang="en-US" altLang="zh-CN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0" y="2528888"/>
            <a:ext cx="4078288" cy="4329113"/>
          </a:xfrm>
          <a:custGeom>
            <a:avLst/>
            <a:gdLst>
              <a:gd name="connsiteX0" fmla="*/ 744589 w 5012696"/>
              <a:gd name="connsiteY0" fmla="*/ 0 h 5320395"/>
              <a:gd name="connsiteX1" fmla="*/ 5012696 w 5012696"/>
              <a:gd name="connsiteY1" fmla="*/ 4268107 h 5320395"/>
              <a:gd name="connsiteX2" fmla="*/ 4925983 w 5012696"/>
              <a:gd name="connsiteY2" fmla="*/ 5128280 h 5320395"/>
              <a:gd name="connsiteX3" fmla="*/ 4876585 w 5012696"/>
              <a:gd name="connsiteY3" fmla="*/ 5320395 h 5320395"/>
              <a:gd name="connsiteX4" fmla="*/ 0 w 5012696"/>
              <a:gd name="connsiteY4" fmla="*/ 5320395 h 5320395"/>
              <a:gd name="connsiteX5" fmla="*/ 0 w 5012696"/>
              <a:gd name="connsiteY5" fmla="*/ 66072 h 5320395"/>
              <a:gd name="connsiteX6" fmla="*/ 94598 w 5012696"/>
              <a:gd name="connsiteY6" fmla="*/ 49178 h 5320395"/>
              <a:gd name="connsiteX7" fmla="*/ 744589 w 5012696"/>
              <a:gd name="connsiteY7" fmla="*/ 0 h 53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12696" h="5320395">
                <a:moveTo>
                  <a:pt x="744589" y="0"/>
                </a:moveTo>
                <a:cubicBezTo>
                  <a:pt x="3101799" y="0"/>
                  <a:pt x="5012696" y="1910897"/>
                  <a:pt x="5012696" y="4268107"/>
                </a:cubicBezTo>
                <a:cubicBezTo>
                  <a:pt x="5012696" y="4562759"/>
                  <a:pt x="4982838" y="4850436"/>
                  <a:pt x="4925983" y="5128280"/>
                </a:cubicBezTo>
                <a:lnTo>
                  <a:pt x="4876585" y="5320395"/>
                </a:lnTo>
                <a:lnTo>
                  <a:pt x="0" y="5320395"/>
                </a:lnTo>
                <a:lnTo>
                  <a:pt x="0" y="66072"/>
                </a:lnTo>
                <a:lnTo>
                  <a:pt x="94598" y="49178"/>
                </a:lnTo>
                <a:cubicBezTo>
                  <a:pt x="306535" y="16795"/>
                  <a:pt x="523601" y="0"/>
                  <a:pt x="744589" y="0"/>
                </a:cubicBez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533775" y="5011738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10850" y="730250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387138" y="1357313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0180" y="16065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4400">
                <a:solidFill>
                  <a:schemeClr val="accent6"/>
                </a:solidFill>
                <a:latin typeface="+mj-lt"/>
                <a:cs typeface="+mj-lt"/>
              </a:rPr>
              <a:t>project team</a:t>
            </a:r>
            <a:r>
              <a:rPr lang="en-US">
                <a:solidFill>
                  <a:schemeClr val="accent6"/>
                </a:solidFill>
                <a:latin typeface="+mj-lt"/>
                <a:cs typeface="+mj-lt"/>
              </a:rPr>
              <a:t> </a:t>
            </a:r>
            <a:endParaRPr lang="en-US">
              <a:solidFill>
                <a:schemeClr val="accent6"/>
              </a:solidFill>
              <a:latin typeface="+mj-lt"/>
              <a:cs typeface="+mj-lt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0180" y="929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was developed by :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70180" y="1818005"/>
            <a:ext cx="4064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Yousef Osman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Ammar Ali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Remas Balboul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Rawan Yakoot 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Hana shamso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0180" y="4364990"/>
            <a:ext cx="5291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supervised by: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Eng. Alaa Mohamed zahra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9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825" y="2616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815340"/>
            <a:ext cx="744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Waste mismanagement remains a serious challenge in urban areas.</a:t>
            </a:r>
            <a:endParaRPr lang="en-US" altLang="en-US" sz="1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0" y="1426210"/>
            <a:ext cx="578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residents dispose of waste improperly due to:</a:t>
            </a:r>
            <a:endParaRPr lang="en-US" alt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3825" y="2037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awareness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23825" y="2616200"/>
            <a:ext cx="577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clear information about nearby waste bins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23825" y="3195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reporting systems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23825" y="3774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 response from authorities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23825" y="4740910"/>
            <a:ext cx="6443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leads to polluted streets, health risks, and a negative impact on community life.</a:t>
            </a:r>
            <a:endParaRPr lang="en-US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23825" y="2857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Idea Solution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0" y="1055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propose a mobile application that:</a:t>
            </a:r>
            <a:endParaRPr lang="en-US" alt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23825" y="1585595"/>
            <a:ext cx="64198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 nearby garbage bins on an interactive map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23825" y="2161540"/>
            <a:ext cx="66655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users to report dirty areas by uploading photos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23825" y="2737485"/>
            <a:ext cx="629348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Divides the city into small squares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23825" y="3313430"/>
            <a:ext cx="40640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Turns reported areas RED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23825" y="3889375"/>
            <a:ext cx="491363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+mj-lt"/>
                <a:cs typeface="+mj-lt"/>
              </a:rPr>
              <a:t>T</a:t>
            </a:r>
            <a:r>
              <a:rPr lang="en-US" altLang="en-US" sz="2100">
                <a:solidFill>
                  <a:schemeClr val="bg1"/>
                </a:solidFill>
                <a:latin typeface="+mj-lt"/>
                <a:cs typeface="+mj-lt"/>
              </a:rPr>
              <a:t>urns them GREEN after cleaning</a:t>
            </a:r>
            <a:endParaRPr lang="en-US" altLang="en-US" sz="2100">
              <a:solidFill>
                <a:schemeClr val="bg1"/>
              </a:solidFill>
              <a:latin typeface="+mj-lt"/>
              <a:cs typeface="+mj-lt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23825" y="4465320"/>
            <a:ext cx="60178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+mj-lt"/>
                <a:cs typeface="+mj-lt"/>
              </a:rPr>
              <a:t>Rewards users with points or discount coupons</a:t>
            </a:r>
            <a:endParaRPr lang="en-US" altLang="en-US" sz="2100">
              <a:solidFill>
                <a:schemeClr val="bg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文本框 128"/>
          <p:cNvSpPr txBox="1"/>
          <p:nvPr/>
        </p:nvSpPr>
        <p:spPr>
          <a:xfrm>
            <a:off x="173355" y="266700"/>
            <a:ext cx="80657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Sustainable Development Goals (SDGs) Related to the Project</a:t>
            </a:r>
            <a:endParaRPr lang="en-US" altLang="en-US" sz="2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19" name="图片 5"/>
          <p:cNvPicPr>
            <a:picLocks noChangeAspect="1"/>
          </p:cNvPicPr>
          <p:nvPr/>
        </p:nvPicPr>
        <p:blipFill>
          <a:blip r:embed="rId1"/>
          <a:srcRect r="17947"/>
          <a:stretch>
            <a:fillRect/>
          </a:stretch>
        </p:blipFill>
        <p:spPr>
          <a:xfrm>
            <a:off x="203200" y="3744913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0" y="3744913"/>
            <a:ext cx="1960563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713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3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688" y="3744913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4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9663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03200" y="1785938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4650" y="2314575"/>
            <a:ext cx="1787525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3 – Good Health and Well-being: Reduce pollution for healthier communities.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62175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47900" y="4275138"/>
            <a:ext cx="1787525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4 – Quality Education: Teach proper waste habits in schools.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121150" y="1785938"/>
            <a:ext cx="1960563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87825" y="2314575"/>
            <a:ext cx="1827213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6 – Clean Water and Sanitation: Protect water sources from contamination.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81713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Goal 7 – Affordable and Clean Energy: Cut waste burning to lower pollution.</a:t>
            </a: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40688" y="1785938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Goal 8 – Decent Work and Economic Growth: Create green jobs via recycling.</a:t>
            </a: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999663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94913" y="4275138"/>
            <a:ext cx="1773238" cy="105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9 – Industry, Innovation and Infrastructure: Use innovative waste solutions.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7"/>
          <a:stretch>
            <a:fillRect/>
          </a:stretch>
        </p:blipFill>
        <p:spPr>
          <a:xfrm>
            <a:off x="4121150" y="3745230"/>
            <a:ext cx="1964690" cy="195897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8"/>
          <a:stretch>
            <a:fillRect/>
          </a:stretch>
        </p:blipFill>
        <p:spPr>
          <a:xfrm>
            <a:off x="6085840" y="1786255"/>
            <a:ext cx="1955165" cy="195897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9"/>
          <a:stretch>
            <a:fillRect/>
          </a:stretch>
        </p:blipFill>
        <p:spPr>
          <a:xfrm>
            <a:off x="207645" y="3745230"/>
            <a:ext cx="1954530" cy="195961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10"/>
          <a:stretch>
            <a:fillRect/>
          </a:stretch>
        </p:blipFill>
        <p:spPr>
          <a:xfrm>
            <a:off x="8041640" y="3745230"/>
            <a:ext cx="1958340" cy="195897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11"/>
          <a:stretch>
            <a:fillRect/>
          </a:stretch>
        </p:blipFill>
        <p:spPr>
          <a:xfrm>
            <a:off x="10005695" y="1786255"/>
            <a:ext cx="1955800" cy="195834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12"/>
          <a:stretch>
            <a:fillRect/>
          </a:stretch>
        </p:blipFill>
        <p:spPr>
          <a:xfrm>
            <a:off x="2165350" y="1786255"/>
            <a:ext cx="1955165" cy="1958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文本框 128"/>
          <p:cNvSpPr txBox="1"/>
          <p:nvPr/>
        </p:nvSpPr>
        <p:spPr>
          <a:xfrm>
            <a:off x="173355" y="266700"/>
            <a:ext cx="966025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Sustainable Development Goals (SDGs) Related to the Project</a:t>
            </a:r>
            <a:endParaRPr lang="en-US" altLang="en-US" sz="2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19" name="图片 5"/>
          <p:cNvPicPr>
            <a:picLocks noChangeAspect="1"/>
          </p:cNvPicPr>
          <p:nvPr/>
        </p:nvPicPr>
        <p:blipFill>
          <a:blip r:embed="rId1"/>
          <a:srcRect r="17947"/>
          <a:stretch>
            <a:fillRect/>
          </a:stretch>
        </p:blipFill>
        <p:spPr>
          <a:xfrm>
            <a:off x="203200" y="3744913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0" y="3744913"/>
            <a:ext cx="1960563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713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3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688" y="3744913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4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9663" y="1785938"/>
            <a:ext cx="1958975" cy="1958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203200" y="1785938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Goal 11 – Sustainable Cities and Communities: Promote cleaner urban environments.</a:t>
            </a: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62175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47900" y="4275138"/>
            <a:ext cx="1787525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12 – Responsible Consumption and Production: Encourage recycling and proper handling.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121150" y="1785938"/>
            <a:ext cx="1960563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87825" y="2314575"/>
            <a:ext cx="1827213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13 – Climate Action: Reduce greenhouse gas emissions from waste</a:t>
            </a:r>
            <a:r>
              <a: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.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81713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81725" y="4275138"/>
            <a:ext cx="1758950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14 – Life Below Water: Prevent waste from reaching waterways.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40688" y="1785938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97838" y="2314575"/>
            <a:ext cx="1844675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15 – Life on Land: Protect ecosystems through proper disposal.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999663" y="3744913"/>
            <a:ext cx="1958975" cy="195897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94913" y="4275138"/>
            <a:ext cx="1773238" cy="105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rPr>
              <a:t>Goal 17 – Partnerships for the Goals: Collaborate for sustainable waste solutions.</a:t>
            </a:r>
            <a:endParaRPr kumimoji="0" lang="en-US" alt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7"/>
          <a:stretch>
            <a:fillRect/>
          </a:stretch>
        </p:blipFill>
        <p:spPr>
          <a:xfrm>
            <a:off x="2162810" y="1786255"/>
            <a:ext cx="1958340" cy="195897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8"/>
          <a:stretch>
            <a:fillRect/>
          </a:stretch>
        </p:blipFill>
        <p:spPr>
          <a:xfrm>
            <a:off x="8040370" y="3744595"/>
            <a:ext cx="1969135" cy="195961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9"/>
          <a:stretch>
            <a:fillRect/>
          </a:stretch>
        </p:blipFill>
        <p:spPr>
          <a:xfrm>
            <a:off x="203200" y="3745230"/>
            <a:ext cx="1959610" cy="195897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10"/>
          <a:stretch>
            <a:fillRect/>
          </a:stretch>
        </p:blipFill>
        <p:spPr>
          <a:xfrm>
            <a:off x="6082030" y="1786255"/>
            <a:ext cx="1954530" cy="195897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11"/>
          <a:stretch>
            <a:fillRect/>
          </a:stretch>
        </p:blipFill>
        <p:spPr>
          <a:xfrm>
            <a:off x="10005060" y="1786255"/>
            <a:ext cx="1961515" cy="195897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12"/>
          <a:stretch>
            <a:fillRect/>
          </a:stretch>
        </p:blipFill>
        <p:spPr>
          <a:xfrm>
            <a:off x="4121150" y="3744595"/>
            <a:ext cx="1970405" cy="1960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9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23825" y="285750"/>
            <a:ext cx="4025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Users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23825" y="826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target users are: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15265" y="15436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who live in cities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15265" y="2190115"/>
            <a:ext cx="5767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 people and students 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5265" y="2836545"/>
            <a:ext cx="4736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community member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04800" y="35560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authorities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文本框 128"/>
          <p:cNvSpPr txBox="1"/>
          <p:nvPr/>
        </p:nvSpPr>
        <p:spPr>
          <a:xfrm>
            <a:off x="173038" y="266700"/>
            <a:ext cx="2589212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Empathy Map</a:t>
            </a:r>
            <a:endParaRPr lang="en-US" altLang="en-US" sz="2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组合 5"/>
          <p:cNvGrpSpPr/>
          <p:nvPr>
            <p:custDataLst>
              <p:tags r:id="rId1"/>
            </p:custDataLst>
          </p:nvPr>
        </p:nvGrpSpPr>
        <p:grpSpPr>
          <a:xfrm>
            <a:off x="4709113" y="938642"/>
            <a:ext cx="1302577" cy="1532123"/>
            <a:chOff x="4162255" y="2049081"/>
            <a:chExt cx="1523085" cy="1791782"/>
          </a:xfrm>
        </p:grpSpPr>
        <p:sp>
          <p:nvSpPr>
            <p:cNvPr id="7" name="椭圆 37"/>
            <p:cNvSpPr/>
            <p:nvPr>
              <p:custDataLst>
                <p:tags r:id="rId2"/>
              </p:custDataLst>
            </p:nvPr>
          </p:nvSpPr>
          <p:spPr>
            <a:xfrm>
              <a:off x="4162255" y="2049081"/>
              <a:ext cx="1523085" cy="1791782"/>
            </a:xfrm>
            <a:custGeom>
              <a:avLst/>
              <a:gdLst/>
              <a:ahLst/>
              <a:cxnLst/>
              <a:rect l="l" t="t" r="r" b="b"/>
              <a:pathLst>
                <a:path w="1224056" h="1440000">
                  <a:moveTo>
                    <a:pt x="720000" y="0"/>
                  </a:moveTo>
                  <a:cubicBezTo>
                    <a:pt x="916472" y="0"/>
                    <a:pt x="1094563" y="78694"/>
                    <a:pt x="1224056" y="206708"/>
                  </a:cubicBezTo>
                  <a:cubicBezTo>
                    <a:pt x="1090618" y="336923"/>
                    <a:pt x="1008112" y="518827"/>
                    <a:pt x="1008112" y="720000"/>
                  </a:cubicBezTo>
                  <a:cubicBezTo>
                    <a:pt x="1008112" y="921174"/>
                    <a:pt x="1090618" y="1103077"/>
                    <a:pt x="1224056" y="1233293"/>
                  </a:cubicBezTo>
                  <a:cubicBezTo>
                    <a:pt x="1094563" y="1361306"/>
                    <a:pt x="916472" y="1440000"/>
                    <a:pt x="720000" y="1440000"/>
                  </a:cubicBezTo>
                  <a:cubicBezTo>
                    <a:pt x="322355" y="1440000"/>
                    <a:pt x="0" y="1117645"/>
                    <a:pt x="0" y="720000"/>
                  </a:cubicBez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solidFill>
              <a:srgbClr val="99CA3B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8" name="TextBox 55"/>
            <p:cNvSpPr txBox="1"/>
            <p:nvPr>
              <p:custDataLst>
                <p:tags r:id="rId3"/>
              </p:custDataLst>
            </p:nvPr>
          </p:nvSpPr>
          <p:spPr>
            <a:xfrm>
              <a:off x="4673568" y="2555119"/>
              <a:ext cx="500458" cy="82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 Unicode MS" pitchFamily="34" charset="-122"/>
                  <a:sym typeface="+mn-ea"/>
                </a:rPr>
                <a:t>1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 Unicode MS" pitchFamily="34" charset="-122"/>
                <a:sym typeface="+mn-ea"/>
              </a:endParaRPr>
            </a:p>
          </p:txBody>
        </p:sp>
      </p:grpSp>
      <p:grpSp>
        <p:nvGrpSpPr>
          <p:cNvPr id="14342" name="组合 8"/>
          <p:cNvGrpSpPr/>
          <p:nvPr>
            <p:custDataLst>
              <p:tags r:id="rId4"/>
            </p:custDataLst>
          </p:nvPr>
        </p:nvGrpSpPr>
        <p:grpSpPr>
          <a:xfrm>
            <a:off x="6041572" y="912835"/>
            <a:ext cx="1532123" cy="1339250"/>
            <a:chOff x="5719229" y="2019949"/>
            <a:chExt cx="1791784" cy="1564555"/>
          </a:xfrm>
        </p:grpSpPr>
        <p:sp>
          <p:nvSpPr>
            <p:cNvPr id="10" name="椭圆 39"/>
            <p:cNvSpPr/>
            <p:nvPr>
              <p:custDataLst>
                <p:tags r:id="rId5"/>
              </p:custDataLst>
            </p:nvPr>
          </p:nvSpPr>
          <p:spPr>
            <a:xfrm>
              <a:off x="5719229" y="2019949"/>
              <a:ext cx="1791784" cy="1564555"/>
            </a:xfrm>
            <a:custGeom>
              <a:avLst/>
              <a:gdLst/>
              <a:ahLst/>
              <a:cxnLst/>
              <a:rect l="l" t="t" r="r" b="b"/>
              <a:pathLst>
                <a:path w="1440000" h="1257385">
                  <a:moveTo>
                    <a:pt x="720000" y="0"/>
                  </a:moveTo>
                  <a:cubicBezTo>
                    <a:pt x="1117645" y="0"/>
                    <a:pt x="1440000" y="322355"/>
                    <a:pt x="1440000" y="720000"/>
                  </a:cubicBezTo>
                  <a:cubicBezTo>
                    <a:pt x="1440000" y="917842"/>
                    <a:pt x="1360205" y="1097046"/>
                    <a:pt x="1230860" y="1227004"/>
                  </a:cubicBezTo>
                  <a:cubicBezTo>
                    <a:pt x="1105781" y="1112548"/>
                    <a:pt x="938852" y="1044389"/>
                    <a:pt x="756004" y="1044389"/>
                  </a:cubicBezTo>
                  <a:cubicBezTo>
                    <a:pt x="556201" y="1044389"/>
                    <a:pt x="375406" y="1125775"/>
                    <a:pt x="245144" y="1257385"/>
                  </a:cubicBezTo>
                  <a:cubicBezTo>
                    <a:pt x="94059" y="1127625"/>
                    <a:pt x="0" y="934797"/>
                    <a:pt x="0" y="720000"/>
                  </a:cubicBez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solidFill>
              <a:srgbClr val="99CA3B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1" name="TextBox 73"/>
            <p:cNvSpPr txBox="1"/>
            <p:nvPr>
              <p:custDataLst>
                <p:tags r:id="rId6"/>
              </p:custDataLst>
            </p:nvPr>
          </p:nvSpPr>
          <p:spPr>
            <a:xfrm>
              <a:off x="6356166" y="2555119"/>
              <a:ext cx="500458" cy="825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 Unicode MS" pitchFamily="34" charset="-122"/>
                  <a:sym typeface="+mn-ea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 Unicode MS" pitchFamily="34" charset="-122"/>
                <a:sym typeface="+mn-ea"/>
              </a:endParaRPr>
            </a:p>
          </p:txBody>
        </p:sp>
      </p:grpSp>
      <p:grpSp>
        <p:nvGrpSpPr>
          <p:cNvPr id="14345" name="组合 11"/>
          <p:cNvGrpSpPr/>
          <p:nvPr>
            <p:custDataLst>
              <p:tags r:id="rId7"/>
            </p:custDataLst>
          </p:nvPr>
        </p:nvGrpSpPr>
        <p:grpSpPr>
          <a:xfrm>
            <a:off x="6264327" y="2239860"/>
            <a:ext cx="1303935" cy="1533481"/>
            <a:chOff x="5980372" y="3570325"/>
            <a:chExt cx="1523085" cy="1791782"/>
          </a:xfrm>
        </p:grpSpPr>
        <p:sp>
          <p:nvSpPr>
            <p:cNvPr id="13" name="椭圆 44"/>
            <p:cNvSpPr/>
            <p:nvPr>
              <p:custDataLst>
                <p:tags r:id="rId8"/>
              </p:custDataLst>
            </p:nvPr>
          </p:nvSpPr>
          <p:spPr>
            <a:xfrm>
              <a:off x="5980372" y="3570325"/>
              <a:ext cx="1523085" cy="1791782"/>
            </a:xfrm>
            <a:custGeom>
              <a:avLst/>
              <a:gdLst/>
              <a:ahLst/>
              <a:cxnLst/>
              <a:rect l="l" t="t" r="r" b="b"/>
              <a:pathLst>
                <a:path w="1224056" h="1440000">
                  <a:moveTo>
                    <a:pt x="504056" y="0"/>
                  </a:moveTo>
                  <a:cubicBezTo>
                    <a:pt x="901701" y="0"/>
                    <a:pt x="1224056" y="322355"/>
                    <a:pt x="1224056" y="720000"/>
                  </a:cubicBezTo>
                  <a:cubicBezTo>
                    <a:pt x="1224056" y="1117645"/>
                    <a:pt x="901701" y="1440000"/>
                    <a:pt x="504056" y="1440000"/>
                  </a:cubicBezTo>
                  <a:cubicBezTo>
                    <a:pt x="307585" y="1440000"/>
                    <a:pt x="129493" y="1361306"/>
                    <a:pt x="0" y="1233293"/>
                  </a:cubicBezTo>
                  <a:cubicBezTo>
                    <a:pt x="133438" y="1103077"/>
                    <a:pt x="215944" y="921174"/>
                    <a:pt x="215944" y="720000"/>
                  </a:cubicBezTo>
                  <a:cubicBezTo>
                    <a:pt x="215944" y="518827"/>
                    <a:pt x="133438" y="336923"/>
                    <a:pt x="0" y="206708"/>
                  </a:cubicBezTo>
                  <a:cubicBezTo>
                    <a:pt x="129493" y="78694"/>
                    <a:pt x="307585" y="0"/>
                    <a:pt x="504056" y="0"/>
                  </a:cubicBezTo>
                  <a:close/>
                </a:path>
              </a:pathLst>
            </a:custGeom>
            <a:solidFill>
              <a:srgbClr val="99CA3B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" name="TextBox 74"/>
            <p:cNvSpPr txBox="1"/>
            <p:nvPr>
              <p:custDataLst>
                <p:tags r:id="rId9"/>
              </p:custDataLst>
            </p:nvPr>
          </p:nvSpPr>
          <p:spPr>
            <a:xfrm>
              <a:off x="6438534" y="4321279"/>
              <a:ext cx="500458" cy="82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 Unicode MS" pitchFamily="34" charset="-122"/>
                  <a:sym typeface="+mn-ea"/>
                </a:rPr>
                <a:t>4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 Unicode MS" pitchFamily="34" charset="-122"/>
                <a:sym typeface="+mn-ea"/>
              </a:endParaRPr>
            </a:p>
          </p:txBody>
        </p:sp>
      </p:grpSp>
      <p:grpSp>
        <p:nvGrpSpPr>
          <p:cNvPr id="14348" name="组合 14"/>
          <p:cNvGrpSpPr/>
          <p:nvPr>
            <p:custDataLst>
              <p:tags r:id="rId10"/>
            </p:custDataLst>
          </p:nvPr>
        </p:nvGrpSpPr>
        <p:grpSpPr>
          <a:xfrm>
            <a:off x="4691456" y="2491139"/>
            <a:ext cx="1532123" cy="1303935"/>
            <a:chOff x="4141235" y="3864128"/>
            <a:chExt cx="1791784" cy="1523254"/>
          </a:xfrm>
        </p:grpSpPr>
        <p:sp>
          <p:nvSpPr>
            <p:cNvPr id="16" name="椭圆 47"/>
            <p:cNvSpPr/>
            <p:nvPr>
              <p:custDataLst>
                <p:tags r:id="rId11"/>
              </p:custDataLst>
            </p:nvPr>
          </p:nvSpPr>
          <p:spPr>
            <a:xfrm>
              <a:off x="4141235" y="3864128"/>
              <a:ext cx="1791784" cy="1523254"/>
            </a:xfrm>
            <a:custGeom>
              <a:avLst/>
              <a:gdLst/>
              <a:ahLst/>
              <a:cxnLst/>
              <a:rect l="l" t="t" r="r" b="b"/>
              <a:pathLst>
                <a:path w="1440000" h="1224192">
                  <a:moveTo>
                    <a:pt x="206820" y="0"/>
                  </a:moveTo>
                  <a:cubicBezTo>
                    <a:pt x="337038" y="133353"/>
                    <a:pt x="518890" y="215807"/>
                    <a:pt x="720000" y="215807"/>
                  </a:cubicBezTo>
                  <a:cubicBezTo>
                    <a:pt x="921110" y="215807"/>
                    <a:pt x="1102962" y="133353"/>
                    <a:pt x="1233180" y="0"/>
                  </a:cubicBezTo>
                  <a:cubicBezTo>
                    <a:pt x="1361255" y="129514"/>
                    <a:pt x="1440000" y="307657"/>
                    <a:pt x="1440000" y="504192"/>
                  </a:cubicBezTo>
                  <a:cubicBezTo>
                    <a:pt x="1440000" y="901837"/>
                    <a:pt x="1117645" y="1224192"/>
                    <a:pt x="720000" y="1224192"/>
                  </a:cubicBezTo>
                  <a:cubicBezTo>
                    <a:pt x="322355" y="1224192"/>
                    <a:pt x="0" y="901837"/>
                    <a:pt x="0" y="504192"/>
                  </a:cubicBezTo>
                  <a:cubicBezTo>
                    <a:pt x="0" y="307657"/>
                    <a:pt x="78745" y="129514"/>
                    <a:pt x="206820" y="0"/>
                  </a:cubicBezTo>
                  <a:close/>
                </a:path>
              </a:pathLst>
            </a:custGeom>
            <a:solidFill>
              <a:srgbClr val="99CA3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75"/>
            <p:cNvSpPr txBox="1"/>
            <p:nvPr>
              <p:custDataLst>
                <p:tags r:id="rId12"/>
              </p:custDataLst>
            </p:nvPr>
          </p:nvSpPr>
          <p:spPr>
            <a:xfrm>
              <a:off x="4758927" y="4321279"/>
              <a:ext cx="500458" cy="825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itchFamily="34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 Unicode MS" pitchFamily="34" charset="-122"/>
                  <a:sym typeface="+mn-ea"/>
                </a:rPr>
                <a:t>3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 Unicode MS" pitchFamily="34" charset="-122"/>
                <a:sym typeface="+mn-ea"/>
              </a:endParaRPr>
            </a:p>
          </p:txBody>
        </p:sp>
      </p:grpSp>
      <p:cxnSp>
        <p:nvCxnSpPr>
          <p:cNvPr id="14351" name="直接连接符 17"/>
          <p:cNvCxnSpPr/>
          <p:nvPr>
            <p:custDataLst>
              <p:tags r:id="rId13"/>
            </p:custDataLst>
          </p:nvPr>
        </p:nvCxnSpPr>
        <p:spPr>
          <a:xfrm>
            <a:off x="4540688" y="869370"/>
            <a:ext cx="0" cy="1322950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2" name="直接连接符 18"/>
          <p:cNvCxnSpPr/>
          <p:nvPr>
            <p:custDataLst>
              <p:tags r:id="rId14"/>
            </p:custDataLst>
          </p:nvPr>
        </p:nvCxnSpPr>
        <p:spPr>
          <a:xfrm>
            <a:off x="4540688" y="2502005"/>
            <a:ext cx="0" cy="1366415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3" name="直接连接符 19"/>
          <p:cNvCxnSpPr/>
          <p:nvPr>
            <p:custDataLst>
              <p:tags r:id="rId15"/>
            </p:custDataLst>
          </p:nvPr>
        </p:nvCxnSpPr>
        <p:spPr>
          <a:xfrm>
            <a:off x="7805958" y="2457183"/>
            <a:ext cx="0" cy="1367773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4" name="直接连接符 20"/>
          <p:cNvCxnSpPr/>
          <p:nvPr>
            <p:custDataLst>
              <p:tags r:id="rId16"/>
            </p:custDataLst>
          </p:nvPr>
        </p:nvCxnSpPr>
        <p:spPr>
          <a:xfrm>
            <a:off x="7805958" y="824548"/>
            <a:ext cx="0" cy="1367773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5" name="直接连接符 21"/>
          <p:cNvCxnSpPr/>
          <p:nvPr>
            <p:custDataLst>
              <p:tags r:id="rId17"/>
            </p:custDataLst>
          </p:nvPr>
        </p:nvCxnSpPr>
        <p:spPr>
          <a:xfrm>
            <a:off x="7849422" y="2325431"/>
            <a:ext cx="3220447" cy="0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6" name="直接连接符 22"/>
          <p:cNvCxnSpPr/>
          <p:nvPr>
            <p:custDataLst>
              <p:tags r:id="rId18"/>
            </p:custDataLst>
          </p:nvPr>
        </p:nvCxnSpPr>
        <p:spPr>
          <a:xfrm flipH="1">
            <a:off x="1320241" y="2325431"/>
            <a:ext cx="3132160" cy="0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357" name="组合 23"/>
          <p:cNvGrpSpPr/>
          <p:nvPr>
            <p:custDataLst>
              <p:tags r:id="rId19"/>
            </p:custDataLst>
          </p:nvPr>
        </p:nvGrpSpPr>
        <p:grpSpPr>
          <a:xfrm>
            <a:off x="1799709" y="946792"/>
            <a:ext cx="2167791" cy="1220334"/>
            <a:chOff x="762108" y="2058454"/>
            <a:chExt cx="2534095" cy="1426441"/>
          </a:xfrm>
        </p:grpSpPr>
        <p:sp>
          <p:nvSpPr>
            <p:cNvPr id="14358" name="矩形 1"/>
            <p:cNvSpPr/>
            <p:nvPr>
              <p:custDataLst>
                <p:tags r:id="rId20"/>
              </p:custDataLst>
            </p:nvPr>
          </p:nvSpPr>
          <p:spPr>
            <a:xfrm>
              <a:off x="762108" y="2058454"/>
              <a:ext cx="1691510" cy="4839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Users Say: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1"/>
              </p:custDataLst>
            </p:nvPr>
          </p:nvSpPr>
          <p:spPr>
            <a:xfrm>
              <a:off x="812871" y="2433872"/>
              <a:ext cx="2483332" cy="10510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“There is too much garbage in my area.”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“No one responds when we complain.”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</p:txBody>
        </p:sp>
      </p:grpSp>
      <p:grpSp>
        <p:nvGrpSpPr>
          <p:cNvPr id="14360" name="组合 26"/>
          <p:cNvGrpSpPr/>
          <p:nvPr>
            <p:custDataLst>
              <p:tags r:id="rId22"/>
            </p:custDataLst>
          </p:nvPr>
        </p:nvGrpSpPr>
        <p:grpSpPr>
          <a:xfrm>
            <a:off x="1799709" y="2674505"/>
            <a:ext cx="2167791" cy="1058409"/>
            <a:chOff x="762108" y="4078142"/>
            <a:chExt cx="2534095" cy="1237168"/>
          </a:xfrm>
        </p:grpSpPr>
        <p:sp>
          <p:nvSpPr>
            <p:cNvPr id="14361" name="矩形 1"/>
            <p:cNvSpPr/>
            <p:nvPr>
              <p:custDataLst>
                <p:tags r:id="rId23"/>
              </p:custDataLst>
            </p:nvPr>
          </p:nvSpPr>
          <p:spPr>
            <a:xfrm>
              <a:off x="762108" y="4078142"/>
              <a:ext cx="1691510" cy="4839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Users Think: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4"/>
              </p:custDataLst>
            </p:nvPr>
          </p:nvSpPr>
          <p:spPr>
            <a:xfrm>
              <a:off x="812871" y="4453560"/>
              <a:ext cx="2483332" cy="8617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“The government should fix this.”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“My participation will not make a difference.”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</p:txBody>
        </p:sp>
      </p:grpSp>
      <p:grpSp>
        <p:nvGrpSpPr>
          <p:cNvPr id="14363" name="组合 29"/>
          <p:cNvGrpSpPr/>
          <p:nvPr>
            <p:custDataLst>
              <p:tags r:id="rId25"/>
            </p:custDataLst>
          </p:nvPr>
        </p:nvGrpSpPr>
        <p:grpSpPr>
          <a:xfrm>
            <a:off x="8292217" y="944075"/>
            <a:ext cx="2167791" cy="1058607"/>
            <a:chOff x="8349493" y="2055818"/>
            <a:chExt cx="2534095" cy="1236634"/>
          </a:xfrm>
        </p:grpSpPr>
        <p:sp>
          <p:nvSpPr>
            <p:cNvPr id="14364" name="矩形 1"/>
            <p:cNvSpPr/>
            <p:nvPr>
              <p:custDataLst>
                <p:tags r:id="rId26"/>
              </p:custDataLst>
            </p:nvPr>
          </p:nvSpPr>
          <p:spPr>
            <a:xfrm>
              <a:off x="8349493" y="2055818"/>
              <a:ext cx="1691510" cy="4836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Users Do: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7"/>
              </p:custDataLst>
            </p:nvPr>
          </p:nvSpPr>
          <p:spPr>
            <a:xfrm>
              <a:off x="8400256" y="2431236"/>
              <a:ext cx="2483332" cy="86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Avoid dirty areas.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Complain on social media.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Ignore the problem due to lack of clear solutions.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</p:txBody>
        </p:sp>
      </p:grpSp>
      <p:grpSp>
        <p:nvGrpSpPr>
          <p:cNvPr id="14366" name="组合 32"/>
          <p:cNvGrpSpPr/>
          <p:nvPr>
            <p:custDataLst>
              <p:tags r:id="rId28"/>
            </p:custDataLst>
          </p:nvPr>
        </p:nvGrpSpPr>
        <p:grpSpPr>
          <a:xfrm>
            <a:off x="8292217" y="2671789"/>
            <a:ext cx="2167791" cy="1058607"/>
            <a:chOff x="8349493" y="4075506"/>
            <a:chExt cx="2534095" cy="1236634"/>
          </a:xfrm>
        </p:grpSpPr>
        <p:sp>
          <p:nvSpPr>
            <p:cNvPr id="14367" name="矩形 1"/>
            <p:cNvSpPr/>
            <p:nvPr>
              <p:custDataLst>
                <p:tags r:id="rId29"/>
              </p:custDataLst>
            </p:nvPr>
          </p:nvSpPr>
          <p:spPr>
            <a:xfrm>
              <a:off x="8349493" y="4075506"/>
              <a:ext cx="1691510" cy="4836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en-US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Users See: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30"/>
              </p:custDataLst>
            </p:nvPr>
          </p:nvSpPr>
          <p:spPr>
            <a:xfrm>
              <a:off x="8400256" y="4450924"/>
              <a:ext cx="2483332" cy="86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Dirty streets.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Overflowing garbage bins.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+mn-cs"/>
                  <a:sym typeface="+mn-ea"/>
                </a:rPr>
                <a:t>Slow response from cleaning services.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  <a:sym typeface="+mn-ea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2517775" y="4193540"/>
            <a:ext cx="7759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Pains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620125" y="4043045"/>
            <a:ext cx="791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Gains</a:t>
            </a:r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23825" y="4598670"/>
            <a:ext cx="5046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Living in unhealthy and polluted environments</a:t>
            </a:r>
            <a:endParaRPr lang="en-US"/>
          </a:p>
        </p:txBody>
      </p:sp>
      <p:cxnSp>
        <p:nvCxnSpPr>
          <p:cNvPr id="9" name="直接连接符 18"/>
          <p:cNvCxnSpPr/>
          <p:nvPr>
            <p:custDataLst>
              <p:tags r:id="rId31"/>
            </p:custDataLst>
          </p:nvPr>
        </p:nvCxnSpPr>
        <p:spPr>
          <a:xfrm flipH="1">
            <a:off x="6041193" y="4287625"/>
            <a:ext cx="22225" cy="1747520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 Box 11"/>
          <p:cNvSpPr txBox="1"/>
          <p:nvPr/>
        </p:nvSpPr>
        <p:spPr>
          <a:xfrm>
            <a:off x="123825" y="4844415"/>
            <a:ext cx="5379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Lack of transparency in cleaning processes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23825" y="51511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Feeling unheard and powerless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123825" y="54254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No incentive to report problems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6149340" y="4537710"/>
            <a:ext cx="71970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Clean and safe neighborhoods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Fast response and visible results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Feeling valued and involved in community improvement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Earning rewards through active participation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288155" y="5851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9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2857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 </a:t>
            </a:r>
            <a:r>
              <a:rPr lang="en-US" alt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Solutions</a:t>
            </a:r>
            <a:endParaRPr lang="en-US" alt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929005"/>
            <a:ext cx="6421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similar initiatives have been tried before, such as:</a:t>
            </a:r>
            <a:endParaRPr lang="en-US" altLang="en-US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4460" y="1588135"/>
            <a:ext cx="7080250" cy="1455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Dawar App in Egypt, which allows users to report waste using photos and GPS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waste management programs focused on awareness and system improvement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3825" y="3334385"/>
            <a:ext cx="6096000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most existing solutions focus only on reporting, while our solution combines reporting, visual tracking, and user incentives.</a:t>
            </a:r>
            <a:endParaRPr lang="en-US" alt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533900" y="1064895"/>
            <a:ext cx="49930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200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Non-functional design requirement</a:t>
            </a:r>
            <a:endParaRPr lang="en-US" sz="220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0180" y="32131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 requirement</a:t>
            </a:r>
            <a:endParaRPr lang="en-US" sz="4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610100" y="17964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User-friendly interface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10100" y="24104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performance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610100" y="30251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handling </a:t>
            </a:r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610100" y="3616325"/>
            <a:ext cx="406400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system reliability </a:t>
            </a:r>
            <a:endParaRPr lang="en-US" sz="23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610100" y="4192270"/>
            <a:ext cx="4427855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 for future expansion</a:t>
            </a:r>
            <a:endParaRPr lang="en-US" sz="23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351" name="直接连接符 17"/>
          <p:cNvCxnSpPr/>
          <p:nvPr>
            <p:custDataLst>
              <p:tags r:id="rId1"/>
            </p:custDataLst>
          </p:nvPr>
        </p:nvCxnSpPr>
        <p:spPr>
          <a:xfrm>
            <a:off x="4523740" y="1198880"/>
            <a:ext cx="10160" cy="4161155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0" y="1064895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functional design requirement</a:t>
            </a:r>
            <a:endParaRPr lang="en-US" sz="2200">
              <a:solidFill>
                <a:schemeClr val="accent6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70180" y="1873250"/>
            <a:ext cx="406400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User registration and login</a:t>
            </a:r>
            <a:endParaRPr lang="en-US" sz="2300"/>
          </a:p>
        </p:txBody>
      </p:sp>
      <p:sp>
        <p:nvSpPr>
          <p:cNvPr id="14" name="Text Box 13"/>
          <p:cNvSpPr txBox="1"/>
          <p:nvPr/>
        </p:nvSpPr>
        <p:spPr>
          <a:xfrm>
            <a:off x="170180" y="2449195"/>
            <a:ext cx="609600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Interactive map</a:t>
            </a:r>
            <a:endParaRPr lang="en-US" sz="23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70180" y="3024505"/>
            <a:ext cx="51549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Photo upload with location detection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/>
          </a:p>
        </p:txBody>
      </p:sp>
      <p:sp>
        <p:nvSpPr>
          <p:cNvPr id="16" name="Text Box 15"/>
          <p:cNvSpPr txBox="1"/>
          <p:nvPr/>
        </p:nvSpPr>
        <p:spPr>
          <a:xfrm>
            <a:off x="170180" y="3547110"/>
            <a:ext cx="4277360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Red/Green status update system</a:t>
            </a:r>
            <a:endParaRPr 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/>
          </a:p>
        </p:txBody>
      </p:sp>
      <p:sp>
        <p:nvSpPr>
          <p:cNvPr id="17" name="Text Box 16"/>
          <p:cNvSpPr txBox="1"/>
          <p:nvPr/>
        </p:nvSpPr>
        <p:spPr>
          <a:xfrm>
            <a:off x="170180" y="4061460"/>
            <a:ext cx="406400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Points and rewards system</a:t>
            </a:r>
            <a:endParaRPr lang="en-US" sz="2300"/>
          </a:p>
        </p:txBody>
      </p:sp>
      <p:sp>
        <p:nvSpPr>
          <p:cNvPr id="19" name="Text Box 18"/>
          <p:cNvSpPr txBox="1"/>
          <p:nvPr/>
        </p:nvSpPr>
        <p:spPr>
          <a:xfrm>
            <a:off x="170180" y="4700270"/>
            <a:ext cx="484441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Admin deshboard for authorities</a:t>
            </a:r>
            <a:endParaRPr lang="en-US" sz="23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0" y="5805488"/>
            <a:ext cx="12192000" cy="1052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3794" name="文本框 6"/>
          <p:cNvSpPr txBox="1"/>
          <p:nvPr/>
        </p:nvSpPr>
        <p:spPr>
          <a:xfrm>
            <a:off x="4986338" y="2078038"/>
            <a:ext cx="6035675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7200" b="1" dirty="0">
                <a:solidFill>
                  <a:srgbClr val="FFFFFF"/>
                </a:solidFill>
                <a:latin typeface="Arial" panose="020B0604020202020204" pitchFamily="34" charset="0"/>
                <a:ea typeface="等线" pitchFamily="2" charset="-122"/>
              </a:rPr>
              <a:t>THANK YOU</a:t>
            </a:r>
            <a:endParaRPr lang="zh-CN" altLang="en-US" sz="7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33795" name="组合 7"/>
          <p:cNvGrpSpPr/>
          <p:nvPr/>
        </p:nvGrpSpPr>
        <p:grpSpPr>
          <a:xfrm>
            <a:off x="7323138" y="3813175"/>
            <a:ext cx="1676400" cy="487363"/>
            <a:chOff x="7765142" y="3748447"/>
            <a:chExt cx="1676630" cy="487720"/>
          </a:xfrm>
        </p:grpSpPr>
        <p:sp>
          <p:nvSpPr>
            <p:cNvPr id="9" name="圆角矩形 8"/>
            <p:cNvSpPr/>
            <p:nvPr/>
          </p:nvSpPr>
          <p:spPr>
            <a:xfrm>
              <a:off x="7765142" y="3748447"/>
              <a:ext cx="1676630" cy="487720"/>
            </a:xfrm>
            <a:prstGeom prst="roundRect">
              <a:avLst/>
            </a:prstGeom>
            <a:solidFill>
              <a:srgbClr val="99C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33797" name="矩形 9"/>
            <p:cNvSpPr/>
            <p:nvPr/>
          </p:nvSpPr>
          <p:spPr>
            <a:xfrm>
              <a:off x="7765143" y="3792252"/>
              <a:ext cx="1624390" cy="3990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20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307-109</a:t>
              </a:r>
              <a:endParaRPr lang="en-US" altLang="zh-CN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13" name="任意多边形 12"/>
          <p:cNvSpPr/>
          <p:nvPr/>
        </p:nvSpPr>
        <p:spPr>
          <a:xfrm>
            <a:off x="0" y="2528888"/>
            <a:ext cx="4078288" cy="4329113"/>
          </a:xfrm>
          <a:custGeom>
            <a:avLst/>
            <a:gdLst>
              <a:gd name="connsiteX0" fmla="*/ 744589 w 5012696"/>
              <a:gd name="connsiteY0" fmla="*/ 0 h 5320395"/>
              <a:gd name="connsiteX1" fmla="*/ 5012696 w 5012696"/>
              <a:gd name="connsiteY1" fmla="*/ 4268107 h 5320395"/>
              <a:gd name="connsiteX2" fmla="*/ 4925983 w 5012696"/>
              <a:gd name="connsiteY2" fmla="*/ 5128280 h 5320395"/>
              <a:gd name="connsiteX3" fmla="*/ 4876585 w 5012696"/>
              <a:gd name="connsiteY3" fmla="*/ 5320395 h 5320395"/>
              <a:gd name="connsiteX4" fmla="*/ 0 w 5012696"/>
              <a:gd name="connsiteY4" fmla="*/ 5320395 h 5320395"/>
              <a:gd name="connsiteX5" fmla="*/ 0 w 5012696"/>
              <a:gd name="connsiteY5" fmla="*/ 66072 h 5320395"/>
              <a:gd name="connsiteX6" fmla="*/ 94598 w 5012696"/>
              <a:gd name="connsiteY6" fmla="*/ 49178 h 5320395"/>
              <a:gd name="connsiteX7" fmla="*/ 744589 w 5012696"/>
              <a:gd name="connsiteY7" fmla="*/ 0 h 53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12696" h="5320395">
                <a:moveTo>
                  <a:pt x="744589" y="0"/>
                </a:moveTo>
                <a:cubicBezTo>
                  <a:pt x="3101799" y="0"/>
                  <a:pt x="5012696" y="1910897"/>
                  <a:pt x="5012696" y="4268107"/>
                </a:cubicBezTo>
                <a:cubicBezTo>
                  <a:pt x="5012696" y="4562759"/>
                  <a:pt x="4982838" y="4850436"/>
                  <a:pt x="4925983" y="5128280"/>
                </a:cubicBezTo>
                <a:lnTo>
                  <a:pt x="4876585" y="5320395"/>
                </a:lnTo>
                <a:lnTo>
                  <a:pt x="0" y="5320395"/>
                </a:lnTo>
                <a:lnTo>
                  <a:pt x="0" y="66072"/>
                </a:lnTo>
                <a:lnTo>
                  <a:pt x="94598" y="49178"/>
                </a:lnTo>
                <a:cubicBezTo>
                  <a:pt x="306535" y="16795"/>
                  <a:pt x="523601" y="0"/>
                  <a:pt x="744589" y="0"/>
                </a:cubicBez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533775" y="5011738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10850" y="730250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387138" y="1357313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156835" y="3113405"/>
            <a:ext cx="4625975" cy="630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/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smart solutions for cleaner communities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3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4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5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6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7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8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9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0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1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2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3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4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5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6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7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8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19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0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1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2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3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4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5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6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7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8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29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30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31.xml><?xml version="1.0" encoding="utf-8"?>
<p:tagLst xmlns:p="http://schemas.openxmlformats.org/presentationml/2006/main">
  <p:tag name="KSO_WM_DIAGRAM_VIRTUALLY_FRAME" val="{&quot;height&quot;:239.67496062992126,&quot;left&quot;:53.77503937007873,&quot;top&quot;:64.92503937007872,&quot;width&quot;:823.95}"/>
</p:tagLst>
</file>

<file path=ppt/tags/tag32.xml><?xml version="1.0" encoding="utf-8"?>
<p:tagLst xmlns:p="http://schemas.openxmlformats.org/presentationml/2006/main">
  <p:tag name="KSO_WM_DIAGRAM_VIRTUALLY_FRAME" val="{&quot;height&quot;:280.12496062992125,&quot;left&quot;:15.87503937007873,&quot;top&quot;:150.87503937007872,&quot;width&quot;:897.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3444</Words>
  <Application>WPS Presentation</Application>
  <PresentationFormat/>
  <Paragraphs>193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等线</vt:lpstr>
      <vt:lpstr>Calibri</vt:lpstr>
      <vt:lpstr>Microsoft YaHei</vt:lpstr>
      <vt:lpstr>Arial Unicode MS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yousef osman</cp:lastModifiedBy>
  <cp:revision>83</cp:revision>
  <dcterms:created xsi:type="dcterms:W3CDTF">2015-10-17T07:33:00Z</dcterms:created>
  <dcterms:modified xsi:type="dcterms:W3CDTF">2026-02-25T01:12:45Z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BC5077B6554445EFB86775C81B1FC30C_13</vt:lpwstr>
  </property>
</Properties>
</file>